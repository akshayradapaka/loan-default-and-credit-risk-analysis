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450A-BD0A-145B-8A3A-9660F86AF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BCAF5-787A-EA83-7E5E-14C3D82A4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26A06-239D-961C-D1D3-418F815C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11D60-CE04-919A-C0F9-3FC904B5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42FE4-AACE-C3CE-A64C-FD91FD35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02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D5E3-3C09-C944-18ED-2FB47B6D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5C22D-307A-673D-94BC-7D526887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CF545-A525-C986-6908-444CFFFF9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B15A4-6963-2069-501F-BCA1026D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53C4E-2714-84FA-728C-04976716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47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93EE-AEED-6F5C-01CB-BB85D74A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DD1EB-27C3-5816-7AE8-BC2C2AA2C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A2A07-F07D-7D02-BC00-89090AB9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9D01C-11D8-1BF8-28DE-7C06E332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C0CF3-8A29-3712-AF40-5F2D61AD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340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0BA6-3BB6-0BB6-E677-D4AE8A75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A9A03-0D6B-1516-6616-567AD177D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BF6A0-B88B-B844-825C-32A3304FE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010B0-37EE-5B2E-128A-41D3BE02B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4FFB8-9077-66DB-2CC6-20EC2AE6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37524-008B-22E4-8F26-5F10A4DC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93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8605-36FB-33D7-18F6-FD9E6348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E9AC5-6F3B-D37E-5A63-A37A131BD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7E516-B121-9084-6B00-D2A575C88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57971-4142-F788-A471-8347F3C2E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2549A-1BDC-48BE-1053-95490C596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BC06D-D7A6-FEE1-F9A8-E506CA99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1B642-D678-5AC0-D263-33BB2BFD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A2FF5-306B-BD5F-F459-7FF9ECAD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71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48DB-5FAD-321C-79FD-D3C69149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5569E-CED6-68E9-672F-459106F4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47484-9858-C227-BF08-6EAB0E22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E41059-E3FB-1656-CFF3-382587C6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77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6C56A-B457-16CE-5AD3-BB8207E1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390E6-C917-6587-54C0-2CE513F3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E8C5-FB53-1692-7B80-07B6023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994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FDE6-6498-CB64-4C2C-C6FDE212D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87D1E-B54C-40F9-68D2-F5DD28741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70672-4456-E2CB-6ED7-F8F3BA71D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6C84A-CF50-07B7-0223-D692CD75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DA1D5-D3F0-68DC-33CA-22457C40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71692-8E25-FB9E-0825-EE81F643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922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5246-16C8-D703-A435-AAA61167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EFE8AA-1422-E482-3D2E-CE713DD28F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622DB-8F96-F344-826D-E038FB617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227F4-EC5B-F910-BBFE-669C7276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E5D65-D36D-5013-CCA6-F395F5DA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B438F-1AF8-0274-6397-3BEAB35F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185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1560-D216-E6F7-E837-769839A8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57358-F5F6-7412-F443-3F19CB05B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0D305-C229-568E-7BA4-0F8C0212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FCAE3-E7FE-5A5D-2E2B-085BD3EF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EB8D1-AB5D-3098-3FBC-71199F3D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7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53EC4-C580-BE26-0DCA-DE1F77408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7DA8E-ECF5-D064-07C0-C5D34C1EB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7AB2B-CEE2-3445-BE8E-373177AB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6D8B-6674-F211-3026-68817331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92C37-2144-7831-3AA5-65B252D7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39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669E1-7545-4D1C-D646-BC25908B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588E7-10C4-91C7-D9E3-871B4F437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DEDDD-8C8F-46E7-3236-78C6EEF85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1FE3F-3E58-486D-91A6-B0AD24D8C1B2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478F4-7A1E-8B3F-166F-F192F2B25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FB265-FE49-F641-9821-50EF87FFA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017F5-5D4B-46B3-B9E2-417DDC3A08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19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7784-EE75-7335-6FF3-982E242E0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065" y="1122363"/>
            <a:ext cx="10353367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Loan Default &amp; Credit Risk Analysis Using Python and Power BI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E0A89-6E64-107D-37E4-B94F9C0B9B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Submitted By:</a:t>
            </a:r>
          </a:p>
          <a:p>
            <a:r>
              <a:rPr lang="en-US" b="1" dirty="0"/>
              <a:t>AKSHAY KUMAR RADAPAKA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96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C23F5-FDC4-6B35-EE39-66F7C678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C16CC-69C2-C9C2-7552-5E61CE94A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Introduction</a:t>
            </a:r>
          </a:p>
          <a:p>
            <a:r>
              <a:rPr lang="en-US" dirty="0"/>
              <a:t>Loan default and credit risk analysis are critical functions in the banking and financial sector. </a:t>
            </a:r>
          </a:p>
          <a:p>
            <a:r>
              <a:rPr lang="en-US" dirty="0"/>
              <a:t>Financial institutions analyze customer financial information before approving loans. </a:t>
            </a:r>
          </a:p>
          <a:p>
            <a:r>
              <a:rPr lang="en-US" dirty="0"/>
              <a:t>Factors such as income, credit score, loan amount, and debt-to-income ratio influence loan repayment capability. </a:t>
            </a:r>
          </a:p>
          <a:p>
            <a:r>
              <a:rPr lang="en-US" dirty="0"/>
              <a:t>Data Analytics helps identify high-risk customers and reduce financial losses. </a:t>
            </a:r>
          </a:p>
          <a:p>
            <a:r>
              <a:rPr lang="en-US" dirty="0"/>
              <a:t>This project analyzes loan and credit risk data using Python and Power BI.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Purpose</a:t>
            </a:r>
          </a:p>
          <a:p>
            <a:r>
              <a:rPr lang="en-US" dirty="0"/>
              <a:t>To identify loan default patterns, evaluate customer creditworthiness, and support better lending decisions through data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54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C4FF-E24C-AD51-EA57-A433ED60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EF43-C8AF-B8BA-96E2-7E957A67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Project Objectives</a:t>
            </a:r>
          </a:p>
          <a:p>
            <a:r>
              <a:rPr lang="en-US" dirty="0"/>
              <a:t>Analyze customer loan and credit data. </a:t>
            </a:r>
          </a:p>
          <a:p>
            <a:r>
              <a:rPr lang="en-US" dirty="0"/>
              <a:t>Calculate loan default rates. </a:t>
            </a:r>
          </a:p>
          <a:p>
            <a:r>
              <a:rPr lang="en-US" dirty="0"/>
              <a:t>Study customer income and credit score patterns. </a:t>
            </a:r>
          </a:p>
          <a:p>
            <a:r>
              <a:rPr lang="en-US" dirty="0"/>
              <a:t>Identify high-risk customer segments. </a:t>
            </a:r>
          </a:p>
          <a:p>
            <a:r>
              <a:rPr lang="en-US" dirty="0"/>
              <a:t>Analyze loan distribution by loan type. </a:t>
            </a:r>
          </a:p>
          <a:p>
            <a:r>
              <a:rPr lang="en-US" dirty="0"/>
              <a:t>Analyze regional default behavior. </a:t>
            </a:r>
          </a:p>
          <a:p>
            <a:r>
              <a:rPr lang="en-US" dirty="0"/>
              <a:t>Study the relationship between income and loan amount. </a:t>
            </a:r>
          </a:p>
          <a:p>
            <a:r>
              <a:rPr lang="en-US" dirty="0"/>
              <a:t>Build an interactive Power BI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306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5F29F-A5FB-72DA-CDCC-82F5F5D5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&amp; 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46A93A-2010-42DA-CCC8-92411F8649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548936"/>
              </p:ext>
            </p:extLst>
          </p:nvPr>
        </p:nvGraphicFramePr>
        <p:xfrm>
          <a:off x="838200" y="1779178"/>
          <a:ext cx="8590934" cy="3291840"/>
        </p:xfrm>
        <a:graphic>
          <a:graphicData uri="http://schemas.openxmlformats.org/drawingml/2006/table">
            <a:tbl>
              <a:tblPr/>
              <a:tblGrid>
                <a:gridCol w="4295467">
                  <a:extLst>
                    <a:ext uri="{9D8B030D-6E8A-4147-A177-3AD203B41FA5}">
                      <a16:colId xmlns:a16="http://schemas.microsoft.com/office/drawing/2014/main" val="4083614253"/>
                    </a:ext>
                  </a:extLst>
                </a:gridCol>
                <a:gridCol w="4295467">
                  <a:extLst>
                    <a:ext uri="{9D8B030D-6E8A-4147-A177-3AD203B41FA5}">
                      <a16:colId xmlns:a16="http://schemas.microsoft.com/office/drawing/2014/main" val="2027567042"/>
                    </a:ext>
                  </a:extLst>
                </a:gridCol>
              </a:tblGrid>
              <a:tr h="33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174245"/>
                  </a:ext>
                </a:extLst>
              </a:tr>
              <a:tr h="33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104905"/>
                  </a:ext>
                </a:extLst>
              </a:tr>
              <a:tr h="33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Pandas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 &amp; Manipulation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725384"/>
                  </a:ext>
                </a:extLst>
              </a:tr>
              <a:tr h="33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Numerical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69603"/>
                  </a:ext>
                </a:extLst>
              </a:tr>
              <a:tr h="33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Matplotlib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506797"/>
                  </a:ext>
                </a:extLst>
              </a:tr>
              <a:tr h="33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Seaborn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Statistical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065356"/>
                  </a:ext>
                </a:extLst>
              </a:tr>
              <a:tr h="33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VS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098369"/>
                  </a:ext>
                </a:extLst>
              </a:tr>
              <a:tr h="33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Dashboard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508617"/>
                  </a:ext>
                </a:extLst>
              </a:tr>
              <a:tr h="33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CSV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35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71B2088-FB65-0F6F-FBCB-91F71FFC17A3}"/>
              </a:ext>
            </a:extLst>
          </p:cNvPr>
          <p:cNvSpPr txBox="1"/>
          <p:nvPr/>
        </p:nvSpPr>
        <p:spPr>
          <a:xfrm>
            <a:off x="838200" y="1445342"/>
            <a:ext cx="1718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Tools Used: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B777E-E42E-4AB7-110B-B702EC7545B3}"/>
              </a:ext>
            </a:extLst>
          </p:cNvPr>
          <p:cNvSpPr txBox="1"/>
          <p:nvPr/>
        </p:nvSpPr>
        <p:spPr>
          <a:xfrm>
            <a:off x="838200" y="5071018"/>
            <a:ext cx="31103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Technologies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r>
              <a:rPr lang="en-IN" dirty="0"/>
              <a:t>Matplotlib </a:t>
            </a:r>
          </a:p>
          <a:p>
            <a:r>
              <a:rPr lang="en-IN" dirty="0"/>
              <a:t>Seaborn,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29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A112-8803-D835-17A3-839D0B02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42942-D5C5-BAF1-5280-156B781B6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164"/>
            <a:ext cx="10515600" cy="476379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300" b="1" dirty="0"/>
              <a:t>Dataset Used:</a:t>
            </a:r>
          </a:p>
          <a:p>
            <a:pPr marL="0" indent="0">
              <a:buNone/>
            </a:pPr>
            <a:r>
              <a:rPr lang="en-US" sz="4200" dirty="0"/>
              <a:t>The project uses a Loan Credit Risk Dataset.</a:t>
            </a:r>
          </a:p>
          <a:p>
            <a:pPr marL="0" indent="0">
              <a:buNone/>
            </a:pPr>
            <a:r>
              <a:rPr lang="en-US" sz="3400" b="1" dirty="0"/>
              <a:t>Dataset Contains</a:t>
            </a:r>
          </a:p>
          <a:p>
            <a:r>
              <a:rPr lang="en-US" sz="4000" dirty="0"/>
              <a:t>Customer ID </a:t>
            </a:r>
          </a:p>
          <a:p>
            <a:r>
              <a:rPr lang="en-US" sz="4000" dirty="0"/>
              <a:t>Gender </a:t>
            </a:r>
          </a:p>
          <a:p>
            <a:r>
              <a:rPr lang="en-US" sz="4000" dirty="0"/>
              <a:t>Age </a:t>
            </a:r>
          </a:p>
          <a:p>
            <a:r>
              <a:rPr lang="en-US" sz="4000" dirty="0"/>
              <a:t>Education </a:t>
            </a:r>
          </a:p>
          <a:p>
            <a:r>
              <a:rPr lang="en-US" sz="4000" dirty="0"/>
              <a:t>Employment Status </a:t>
            </a:r>
          </a:p>
          <a:p>
            <a:r>
              <a:rPr lang="en-US" sz="4000" dirty="0"/>
              <a:t>Annual Income </a:t>
            </a:r>
          </a:p>
          <a:p>
            <a:r>
              <a:rPr lang="en-US" sz="4000" dirty="0"/>
              <a:t>Credit Score </a:t>
            </a:r>
          </a:p>
          <a:p>
            <a:r>
              <a:rPr lang="en-US" sz="4000" dirty="0"/>
              <a:t>Loan ID </a:t>
            </a:r>
          </a:p>
          <a:p>
            <a:r>
              <a:rPr lang="en-US" sz="4000" dirty="0"/>
              <a:t>Loan Type </a:t>
            </a:r>
          </a:p>
          <a:p>
            <a:r>
              <a:rPr lang="en-US" sz="4000" dirty="0"/>
              <a:t>Loan Amount </a:t>
            </a:r>
          </a:p>
          <a:p>
            <a:r>
              <a:rPr lang="en-US" sz="4000" dirty="0"/>
              <a:t>Interest Rate </a:t>
            </a:r>
          </a:p>
          <a:p>
            <a:r>
              <a:rPr lang="en-US" sz="4000" dirty="0"/>
              <a:t>Debt-to-Income Ratio </a:t>
            </a:r>
          </a:p>
          <a:p>
            <a:r>
              <a:rPr lang="en-US" sz="4000" dirty="0"/>
              <a:t>Property Ownership </a:t>
            </a:r>
          </a:p>
          <a:p>
            <a:r>
              <a:rPr lang="en-US" sz="4000" dirty="0"/>
              <a:t>Region </a:t>
            </a:r>
          </a:p>
          <a:p>
            <a:r>
              <a:rPr lang="en-US" sz="4000" dirty="0"/>
              <a:t>Default Status </a:t>
            </a:r>
          </a:p>
          <a:p>
            <a:pPr marL="0" indent="0">
              <a:buNone/>
            </a:pPr>
            <a:r>
              <a:rPr lang="en-US" sz="5600" b="1" dirty="0"/>
              <a:t>Dataset Size</a:t>
            </a:r>
          </a:p>
          <a:p>
            <a:r>
              <a:rPr lang="en-US" sz="4000" dirty="0"/>
              <a:t>Total Records: </a:t>
            </a:r>
            <a:r>
              <a:rPr lang="en-US" sz="4000" b="1" dirty="0"/>
              <a:t>1000</a:t>
            </a:r>
            <a:r>
              <a:rPr lang="en-US" sz="4000" dirty="0"/>
              <a:t> </a:t>
            </a:r>
          </a:p>
          <a:p>
            <a:r>
              <a:rPr lang="en-US" sz="4000" dirty="0"/>
              <a:t>Total Columns: </a:t>
            </a:r>
            <a:r>
              <a:rPr lang="en-US" sz="4000" b="1" dirty="0"/>
              <a:t>24</a:t>
            </a:r>
            <a:endParaRPr lang="en-US" sz="4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74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341E-12BE-E50C-CE15-712C1F62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Cleaning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3A2EF-D2C3-8827-0018-C78139355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Data Preprocessing Steps</a:t>
            </a:r>
          </a:p>
          <a:p>
            <a:r>
              <a:rPr lang="en-IN" dirty="0"/>
              <a:t>Loaded dataset using Pandas. </a:t>
            </a:r>
          </a:p>
          <a:p>
            <a:r>
              <a:rPr lang="en-IN" dirty="0"/>
              <a:t>Checked dataset shape. </a:t>
            </a:r>
          </a:p>
          <a:p>
            <a:r>
              <a:rPr lang="en-IN" dirty="0"/>
              <a:t>Verified data types. </a:t>
            </a:r>
          </a:p>
          <a:p>
            <a:r>
              <a:rPr lang="en-IN" dirty="0"/>
              <a:t>Generated statistical summary. </a:t>
            </a:r>
          </a:p>
          <a:p>
            <a:r>
              <a:rPr lang="en-IN" dirty="0"/>
              <a:t>Identified missing values. </a:t>
            </a:r>
          </a:p>
          <a:p>
            <a:r>
              <a:rPr lang="en-IN" dirty="0"/>
              <a:t>Checked duplicate records. </a:t>
            </a:r>
          </a:p>
          <a:p>
            <a:r>
              <a:rPr lang="en-IN" dirty="0"/>
              <a:t>Validated loan and credit score ranges. </a:t>
            </a:r>
          </a:p>
          <a:p>
            <a:r>
              <a:rPr lang="en-IN" dirty="0"/>
              <a:t>Prepared clean dataset for analysis. </a:t>
            </a:r>
          </a:p>
          <a:p>
            <a:pPr marL="0" indent="0">
              <a:buNone/>
            </a:pPr>
            <a:r>
              <a:rPr lang="en-IN" b="1" dirty="0"/>
              <a:t>Result</a:t>
            </a:r>
          </a:p>
          <a:p>
            <a:r>
              <a:rPr lang="en-IN" dirty="0"/>
              <a:t>Missing Values = </a:t>
            </a:r>
            <a:r>
              <a:rPr lang="en-IN" b="1" dirty="0"/>
              <a:t>0</a:t>
            </a:r>
            <a:r>
              <a:rPr lang="en-IN" dirty="0"/>
              <a:t> </a:t>
            </a:r>
          </a:p>
          <a:p>
            <a:r>
              <a:rPr lang="en-IN" dirty="0"/>
              <a:t>Duplicate Records = </a:t>
            </a:r>
            <a:r>
              <a:rPr lang="en-IN" b="1" dirty="0"/>
              <a:t>0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28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EC51-D1E7-A676-E51F-873CE7E7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53976-172F-FB81-9C99-C98EE01D6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289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/>
              <a:t>Analysis Performed</a:t>
            </a:r>
          </a:p>
          <a:p>
            <a:r>
              <a:rPr lang="en-IN" sz="5600" dirty="0"/>
              <a:t>Customer &amp; Loan Analysis </a:t>
            </a:r>
          </a:p>
          <a:p>
            <a:r>
              <a:rPr lang="en-IN" sz="5600" dirty="0"/>
              <a:t>Default Rate Analysis </a:t>
            </a:r>
          </a:p>
          <a:p>
            <a:r>
              <a:rPr lang="en-IN" sz="5600" dirty="0"/>
              <a:t>Credit Score Analysis </a:t>
            </a:r>
          </a:p>
          <a:p>
            <a:r>
              <a:rPr lang="en-IN" sz="5600" dirty="0"/>
              <a:t>Income Analysis </a:t>
            </a:r>
          </a:p>
          <a:p>
            <a:r>
              <a:rPr lang="en-IN" sz="5600" dirty="0"/>
              <a:t>Loan Amount Analysis </a:t>
            </a:r>
          </a:p>
          <a:p>
            <a:r>
              <a:rPr lang="en-IN" sz="5600" dirty="0"/>
              <a:t>Loan Type Analysis </a:t>
            </a:r>
          </a:p>
          <a:p>
            <a:r>
              <a:rPr lang="en-IN" sz="5600" dirty="0"/>
              <a:t>Employment Status Analysis </a:t>
            </a:r>
          </a:p>
          <a:p>
            <a:r>
              <a:rPr lang="en-IN" sz="5600" dirty="0"/>
              <a:t>Region-wise Default Analysis </a:t>
            </a:r>
          </a:p>
          <a:p>
            <a:r>
              <a:rPr lang="en-IN" sz="5600" dirty="0"/>
              <a:t>Credit Score Group Analysis </a:t>
            </a:r>
          </a:p>
          <a:p>
            <a:r>
              <a:rPr lang="en-IN" sz="5600" dirty="0"/>
              <a:t>Income Group Analysis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sz="7200" b="1" dirty="0"/>
              <a:t>Python Libraries Used</a:t>
            </a:r>
          </a:p>
          <a:p>
            <a:r>
              <a:rPr lang="en-US" sz="5600" dirty="0"/>
              <a:t>Pandas</a:t>
            </a:r>
          </a:p>
          <a:p>
            <a:r>
              <a:rPr lang="en-US" sz="5600" dirty="0"/>
              <a:t>NumPy</a:t>
            </a:r>
          </a:p>
          <a:p>
            <a:r>
              <a:rPr lang="en-US" sz="5600" dirty="0"/>
              <a:t>Matplotlib</a:t>
            </a:r>
          </a:p>
          <a:p>
            <a:r>
              <a:rPr lang="en-US" sz="5600" dirty="0"/>
              <a:t>Seaborn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28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13ED-4F15-7C8B-103D-BA821D610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91" y="135167"/>
            <a:ext cx="10515600" cy="1325563"/>
          </a:xfrm>
        </p:spPr>
        <p:txBody>
          <a:bodyPr/>
          <a:lstStyle/>
          <a:p>
            <a:r>
              <a:rPr lang="en-IN" b="1" dirty="0"/>
              <a:t>Loan &amp; Customer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E7BEA1-8FC9-20E7-7752-2FE49F1451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511798"/>
              </p:ext>
            </p:extLst>
          </p:nvPr>
        </p:nvGraphicFramePr>
        <p:xfrm>
          <a:off x="924791" y="1628247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277824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42924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18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381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939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Defaulted 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108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Non-Defaulted 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494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Default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26.2%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8137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5524A7-12AE-8514-60F4-BA83F0064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75481"/>
              </p:ext>
            </p:extLst>
          </p:nvPr>
        </p:nvGraphicFramePr>
        <p:xfrm>
          <a:off x="924791" y="4190379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609949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62458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961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Avg</a:t>
                      </a:r>
                      <a:r>
                        <a:rPr lang="en-IN" dirty="0"/>
                        <a:t> Credit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598.93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221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Avg</a:t>
                      </a:r>
                      <a:r>
                        <a:rPr lang="en-IN" dirty="0"/>
                        <a:t> Annual 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₹835,342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81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Avg Loan 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₹1,050,061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297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Avg Interest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12.08%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9945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2B1E87-3FFB-31AD-47E4-6403490D9857}"/>
              </a:ext>
            </a:extLst>
          </p:cNvPr>
          <p:cNvSpPr txBox="1"/>
          <p:nvPr/>
        </p:nvSpPr>
        <p:spPr>
          <a:xfrm>
            <a:off x="838199" y="1276064"/>
            <a:ext cx="1967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Metrics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26EACF-792B-3AD1-C64B-95C445265E67}"/>
              </a:ext>
            </a:extLst>
          </p:cNvPr>
          <p:cNvSpPr txBox="1"/>
          <p:nvPr/>
        </p:nvSpPr>
        <p:spPr>
          <a:xfrm>
            <a:off x="924791" y="3790269"/>
            <a:ext cx="2400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Additional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84679-B00C-E0DF-F5EA-9F044BB49A48}"/>
              </a:ext>
            </a:extLst>
          </p:cNvPr>
          <p:cNvSpPr txBox="1"/>
          <p:nvPr/>
        </p:nvSpPr>
        <p:spPr>
          <a:xfrm>
            <a:off x="838199" y="6076502"/>
            <a:ext cx="8960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</a:t>
            </a:r>
          </a:p>
          <a:p>
            <a:r>
              <a:rPr lang="en-US" dirty="0"/>
              <a:t>Approximately 26.2% of loans were classified as defaults.</a:t>
            </a:r>
          </a:p>
        </p:txBody>
      </p:sp>
    </p:spTree>
    <p:extLst>
      <p:ext uri="{BB962C8B-B14F-4D97-AF65-F5344CB8AC3E}">
        <p14:creationId xmlns:p14="http://schemas.microsoft.com/office/powerpoint/2010/main" val="266187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8293-5E38-C6A3-1D5C-54ED68A7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Credit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2FEC2-B48E-3C7F-C19D-3B9A9881D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071"/>
            <a:ext cx="10515600" cy="289184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Credit Score Groups</a:t>
            </a:r>
          </a:p>
          <a:p>
            <a:r>
              <a:rPr lang="en-US" dirty="0"/>
              <a:t>Poor </a:t>
            </a:r>
          </a:p>
          <a:p>
            <a:r>
              <a:rPr lang="en-US" dirty="0"/>
              <a:t>Fair </a:t>
            </a:r>
          </a:p>
          <a:p>
            <a:r>
              <a:rPr lang="en-US" dirty="0"/>
              <a:t>Good </a:t>
            </a:r>
          </a:p>
          <a:p>
            <a:r>
              <a:rPr lang="en-US" dirty="0"/>
              <a:t>Excellent </a:t>
            </a:r>
          </a:p>
          <a:p>
            <a:pPr marL="0" indent="0">
              <a:buNone/>
            </a:pPr>
            <a:r>
              <a:rPr lang="en-US" b="1" dirty="0"/>
              <a:t>Income Groups</a:t>
            </a:r>
          </a:p>
          <a:p>
            <a:r>
              <a:rPr lang="en-US" dirty="0"/>
              <a:t>Low Income </a:t>
            </a:r>
          </a:p>
          <a:p>
            <a:r>
              <a:rPr lang="en-US" dirty="0"/>
              <a:t>Medium Income </a:t>
            </a:r>
          </a:p>
          <a:p>
            <a:r>
              <a:rPr lang="en-US" dirty="0"/>
              <a:t>High Income </a:t>
            </a:r>
          </a:p>
          <a:p>
            <a:r>
              <a:rPr lang="en-US" dirty="0"/>
              <a:t>Very High Income </a:t>
            </a:r>
          </a:p>
          <a:p>
            <a:pPr marL="0" indent="0">
              <a:buNone/>
            </a:pPr>
            <a:r>
              <a:rPr lang="en-US" b="1" dirty="0"/>
              <a:t>Region-wise Default Rate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A35546-0731-DA17-26E1-5A464B416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72710"/>
              </p:ext>
            </p:extLst>
          </p:nvPr>
        </p:nvGraphicFramePr>
        <p:xfrm>
          <a:off x="831273" y="4436918"/>
          <a:ext cx="10522527" cy="1524000"/>
        </p:xfrm>
        <a:graphic>
          <a:graphicData uri="http://schemas.openxmlformats.org/drawingml/2006/table">
            <a:tbl>
              <a:tblPr/>
              <a:tblGrid>
                <a:gridCol w="5264727">
                  <a:extLst>
                    <a:ext uri="{9D8B030D-6E8A-4147-A177-3AD203B41FA5}">
                      <a16:colId xmlns:a16="http://schemas.microsoft.com/office/drawing/2014/main" val="3572233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1277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Default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470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29.12%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55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South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25.67%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47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North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25.63%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43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24.17%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9699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C1FAABC-2624-DB3A-3140-0F8246005D2A}"/>
              </a:ext>
            </a:extLst>
          </p:cNvPr>
          <p:cNvSpPr txBox="1"/>
          <p:nvPr/>
        </p:nvSpPr>
        <p:spPr>
          <a:xfrm>
            <a:off x="831273" y="6031210"/>
            <a:ext cx="7949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</a:t>
            </a:r>
          </a:p>
          <a:p>
            <a:r>
              <a:rPr lang="en-US" dirty="0"/>
              <a:t>East region recorded the highest loan default rate.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30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B3577-5980-5300-EF30-C0E47B32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Visualizations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36371-87E2-53DA-9DF2-EBAA2FA1A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937" y="1545071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Visualizations Created</a:t>
            </a:r>
          </a:p>
          <a:p>
            <a:r>
              <a:rPr lang="en-US" dirty="0"/>
              <a:t>Loan Default Distribution </a:t>
            </a:r>
          </a:p>
          <a:p>
            <a:r>
              <a:rPr lang="en-US" dirty="0"/>
              <a:t>Loan Portfolio by Loan Type </a:t>
            </a:r>
          </a:p>
          <a:p>
            <a:r>
              <a:rPr lang="en-US" dirty="0"/>
              <a:t>Default Rate by Employment Status </a:t>
            </a:r>
          </a:p>
          <a:p>
            <a:r>
              <a:rPr lang="en-US" dirty="0"/>
              <a:t>Credit Risk by Credit Score Group </a:t>
            </a:r>
          </a:p>
          <a:p>
            <a:r>
              <a:rPr lang="en-US" dirty="0"/>
              <a:t>Default Rate by Income Group </a:t>
            </a:r>
          </a:p>
          <a:p>
            <a:r>
              <a:rPr lang="en-US" dirty="0"/>
              <a:t>Credit Score Distribution </a:t>
            </a:r>
          </a:p>
          <a:p>
            <a:r>
              <a:rPr lang="en-US" dirty="0"/>
              <a:t>Income vs Loan Amount Analysis </a:t>
            </a:r>
          </a:p>
          <a:p>
            <a:r>
              <a:rPr lang="en-US" dirty="0"/>
              <a:t>Correlation Heatmap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Observation</a:t>
            </a:r>
          </a:p>
          <a:p>
            <a:r>
              <a:rPr lang="en-US" dirty="0"/>
              <a:t>Customers with lower credit scores and higher financial burdens showed higher default tendencies.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917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8BB4-3271-DFAB-5C7B-A94DDAA2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91" y="105209"/>
            <a:ext cx="10515600" cy="881928"/>
          </a:xfrm>
        </p:spPr>
        <p:txBody>
          <a:bodyPr/>
          <a:lstStyle/>
          <a:p>
            <a:r>
              <a:rPr lang="en-IN" b="1" dirty="0"/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7497C-4C49-E2BE-B224-46CC21173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0834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400" b="1" dirty="0"/>
              <a:t>Dashboard Features</a:t>
            </a:r>
          </a:p>
          <a:p>
            <a:pPr marL="0" indent="0">
              <a:buNone/>
            </a:pPr>
            <a:r>
              <a:rPr lang="en-IN" sz="4800" b="1" dirty="0"/>
              <a:t>Page 1: Executive Summary</a:t>
            </a:r>
          </a:p>
          <a:p>
            <a:r>
              <a:rPr lang="en-IN" sz="4000" dirty="0"/>
              <a:t>Total Customers KPI </a:t>
            </a:r>
          </a:p>
          <a:p>
            <a:r>
              <a:rPr lang="en-IN" sz="4000" dirty="0"/>
              <a:t>Total Loans KPI </a:t>
            </a:r>
          </a:p>
          <a:p>
            <a:r>
              <a:rPr lang="en-IN" sz="4000" dirty="0"/>
              <a:t>Defaulted Loans KPI </a:t>
            </a:r>
          </a:p>
          <a:p>
            <a:r>
              <a:rPr lang="en-IN" sz="4000" dirty="0"/>
              <a:t>Default Rate KPI </a:t>
            </a:r>
          </a:p>
          <a:p>
            <a:r>
              <a:rPr lang="en-IN" sz="4000" dirty="0"/>
              <a:t>Average Loan Amount KPI </a:t>
            </a:r>
          </a:p>
          <a:p>
            <a:r>
              <a:rPr lang="en-IN" sz="4000" dirty="0"/>
              <a:t>Average Credit Score KPI </a:t>
            </a:r>
          </a:p>
          <a:p>
            <a:r>
              <a:rPr lang="en-IN" sz="4000" dirty="0"/>
              <a:t>Average Annual Income KPI </a:t>
            </a:r>
          </a:p>
          <a:p>
            <a:r>
              <a:rPr lang="en-IN" sz="4000" dirty="0"/>
              <a:t>Loan Default Distribution </a:t>
            </a:r>
          </a:p>
          <a:p>
            <a:r>
              <a:rPr lang="en-IN" sz="4000" dirty="0"/>
              <a:t>Loan Portfolio by Loan Type </a:t>
            </a:r>
          </a:p>
          <a:p>
            <a:r>
              <a:rPr lang="en-IN" sz="4000" dirty="0"/>
              <a:t>Credit Risk Analysis </a:t>
            </a:r>
          </a:p>
          <a:p>
            <a:pPr marL="0" indent="0">
              <a:buNone/>
            </a:pPr>
            <a:r>
              <a:rPr lang="en-IN" sz="5600" b="1" dirty="0"/>
              <a:t>Page 2: Credit Risk Analysis &amp; Customer Insights</a:t>
            </a:r>
          </a:p>
          <a:p>
            <a:r>
              <a:rPr lang="en-IN" sz="4000" dirty="0"/>
              <a:t>Loan Amount by Loan Type </a:t>
            </a:r>
          </a:p>
          <a:p>
            <a:r>
              <a:rPr lang="en-IN" sz="4000" dirty="0"/>
              <a:t>Average Loan Amount by Region </a:t>
            </a:r>
          </a:p>
          <a:p>
            <a:r>
              <a:rPr lang="en-IN" sz="4000" dirty="0"/>
              <a:t>Credit Score Distribution </a:t>
            </a:r>
          </a:p>
          <a:p>
            <a:r>
              <a:rPr lang="en-IN" sz="4000" dirty="0"/>
              <a:t>Income vs Loan Amount Analysis </a:t>
            </a:r>
          </a:p>
          <a:p>
            <a:r>
              <a:rPr lang="en-IN" sz="4000" dirty="0"/>
              <a:t>Loan Portfolio Details Table </a:t>
            </a:r>
          </a:p>
          <a:p>
            <a:r>
              <a:rPr lang="en-IN" sz="4000" dirty="0"/>
              <a:t>Interactive Filters </a:t>
            </a:r>
          </a:p>
          <a:p>
            <a:pPr marL="0" indent="0">
              <a:buNone/>
            </a:pPr>
            <a:r>
              <a:rPr lang="en-IN" sz="5600" b="1" dirty="0"/>
              <a:t>Benefits</a:t>
            </a:r>
          </a:p>
          <a:p>
            <a:r>
              <a:rPr lang="en-IN" sz="4000" dirty="0"/>
              <a:t>Interactive Dashboard </a:t>
            </a:r>
          </a:p>
          <a:p>
            <a:r>
              <a:rPr lang="en-IN" sz="4000" dirty="0"/>
              <a:t>Easy to Understand </a:t>
            </a:r>
          </a:p>
          <a:p>
            <a:r>
              <a:rPr lang="en-IN" sz="4000" dirty="0"/>
              <a:t>Real-Time Filtering </a:t>
            </a:r>
          </a:p>
          <a:p>
            <a:r>
              <a:rPr lang="en-IN" sz="4000" dirty="0"/>
              <a:t>Supports Risk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570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4A4DB-F266-F0CE-3EFA-A755AD9CA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52009"/>
          </a:xfrm>
        </p:spPr>
        <p:txBody>
          <a:bodyPr/>
          <a:lstStyle/>
          <a:p>
            <a:r>
              <a:rPr lang="en-IN" b="1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6F2C8-341F-19AD-486C-03CEB076B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264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/>
              <a:t>Conclusion</a:t>
            </a:r>
          </a:p>
          <a:p>
            <a:r>
              <a:rPr lang="en-US" sz="6400" dirty="0"/>
              <a:t>Successfully analyzed loan and credit risk data. </a:t>
            </a:r>
          </a:p>
          <a:p>
            <a:r>
              <a:rPr lang="en-US" sz="6400" dirty="0"/>
              <a:t>Calculated default rates and customer risk patterns. </a:t>
            </a:r>
          </a:p>
          <a:p>
            <a:r>
              <a:rPr lang="en-US" sz="6400" dirty="0"/>
              <a:t>Identified high-risk regions and customer groups. </a:t>
            </a:r>
          </a:p>
          <a:p>
            <a:r>
              <a:rPr lang="en-US" sz="6400" dirty="0"/>
              <a:t>Built visualizations using Python. </a:t>
            </a:r>
          </a:p>
          <a:p>
            <a:r>
              <a:rPr lang="en-US" sz="6400" dirty="0"/>
              <a:t>Developed an interactive Power BI dashboard. </a:t>
            </a:r>
          </a:p>
          <a:p>
            <a:r>
              <a:rPr lang="en-US" sz="6400" dirty="0"/>
              <a:t>Generated meaningful insights for credit risk management. </a:t>
            </a:r>
          </a:p>
          <a:p>
            <a:endParaRPr lang="en-US" sz="4000" dirty="0"/>
          </a:p>
          <a:p>
            <a:endParaRPr lang="en-US" sz="4000" dirty="0"/>
          </a:p>
          <a:p>
            <a:pPr marL="0" indent="0">
              <a:buNone/>
            </a:pPr>
            <a:r>
              <a:rPr lang="en-US" sz="8000" b="1" dirty="0"/>
              <a:t>Future Scope</a:t>
            </a:r>
          </a:p>
          <a:p>
            <a:r>
              <a:rPr lang="en-US" sz="6400" dirty="0"/>
              <a:t>Loan Default Prediction using Machine Learning. </a:t>
            </a:r>
          </a:p>
          <a:p>
            <a:r>
              <a:rPr lang="en-US" sz="6400" dirty="0"/>
              <a:t>Credit Risk Classification Models. </a:t>
            </a:r>
          </a:p>
          <a:p>
            <a:r>
              <a:rPr lang="en-US" sz="6400" dirty="0"/>
              <a:t>AI-Based Credit Scoring Systems. </a:t>
            </a:r>
          </a:p>
          <a:p>
            <a:r>
              <a:rPr lang="en-US" sz="6400" dirty="0"/>
              <a:t>Real-Time Risk Monitoring Dashboards. </a:t>
            </a:r>
          </a:p>
          <a:p>
            <a:r>
              <a:rPr lang="en-US" sz="6400" dirty="0"/>
              <a:t>Banking Decision Support Systems. </a:t>
            </a:r>
          </a:p>
          <a:p>
            <a:r>
              <a:rPr lang="en-US" sz="6400" dirty="0"/>
              <a:t>Predictive Analytics for Loan Approval.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758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Widescreen</PresentationFormat>
  <Paragraphs>209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Loan Default &amp; Credit Risk Analysis Using Python and Power BI</vt:lpstr>
      <vt:lpstr>Introduction</vt:lpstr>
      <vt:lpstr>Objectives</vt:lpstr>
      <vt:lpstr>Tools &amp; Technologies Used</vt:lpstr>
      <vt:lpstr>Dataset Description</vt:lpstr>
      <vt:lpstr>Data Cleaning &amp; Preprocessing</vt:lpstr>
      <vt:lpstr>Exploratory Data Analysis (EDA)</vt:lpstr>
      <vt:lpstr>Loan &amp; Customer Analysis</vt:lpstr>
      <vt:lpstr>Credit Risk Analysis</vt:lpstr>
      <vt:lpstr>Visualizations &amp; Insights</vt:lpstr>
      <vt:lpstr>Power BI Dashboard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Akshaykumar Radapaka</dc:creator>
  <cp:lastModifiedBy>Akshaykumar Radapaka</cp:lastModifiedBy>
  <cp:revision>1</cp:revision>
  <dcterms:created xsi:type="dcterms:W3CDTF">2026-10-04T14:31:07Z</dcterms:created>
  <dcterms:modified xsi:type="dcterms:W3CDTF">2026-10-04T14:31:07Z</dcterms:modified>
</cp:coreProperties>
</file>